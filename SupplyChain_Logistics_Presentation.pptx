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640080"/>
            <a:ext cx="3108960" cy="3108960"/>
          </a:xfrm>
          <a:prstGeom prst="ellipse">
            <a:avLst/>
          </a:prstGeom>
          <a:solidFill>
            <a:srgbClr val="97BC62">
              <a:alpha val="18000"/>
            </a:srgbClr>
          </a:solidFill>
          <a:ln w="12700">
            <a:solidFill>
              <a:srgbClr val="97BC6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2C5F2D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A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Analyst Project  |  Supply Chain Domain  |  2023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18688"/>
            <a:ext cx="1938528" cy="950976"/>
          </a:xfrm>
          <a:prstGeom prst="rect">
            <a:avLst/>
          </a:prstGeom>
          <a:solidFill>
            <a:srgbClr val="2C5F2D">
              <a:alpha val="65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24612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744" y="3218688"/>
            <a:ext cx="1938528" cy="950976"/>
          </a:xfrm>
          <a:prstGeom prst="rect">
            <a:avLst/>
          </a:prstGeom>
          <a:solidFill>
            <a:srgbClr val="2C5F2D">
              <a:alpha val="65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23744" y="324612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$499M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523744" y="373075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Portfolio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3218688"/>
            <a:ext cx="1938528" cy="950976"/>
          </a:xfrm>
          <a:prstGeom prst="rect">
            <a:avLst/>
          </a:prstGeom>
          <a:solidFill>
            <a:srgbClr val="2C5F2D">
              <a:alpha val="65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324612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81728" y="373075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9712" y="3218688"/>
            <a:ext cx="1938528" cy="950976"/>
          </a:xfrm>
          <a:prstGeom prst="rect">
            <a:avLst/>
          </a:prstGeom>
          <a:solidFill>
            <a:srgbClr val="2C5F2D">
              <a:alpha val="65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324612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839712" y="3730752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873752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·  SQL  ·  Python  ·  Power BI  ·  PowerPoint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3840480" cy="1956816"/>
          </a:xfrm>
          <a:prstGeom prst="rect">
            <a:avLst/>
          </a:prstGeom>
          <a:solidFill>
            <a:srgbClr val="F1F7EE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54864" cy="195681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25296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multi-warehouse manufacturing group is experiencing a critical 41.1% on-time delivery rate, rising freight costs, and 22.3% stockout frequency — threatening production continuity and customer SLAs.
</a:t>
            </a:r>
            <a:pPr indent="0" marL="0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supply chain analytics pipeline to identify delivery bottlenecks, rank supplier reliability, optimise inventory reorder points, and reduce total logistics costs.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82296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Toolkit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347472" cy="512064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521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974336" y="1152144"/>
            <a:ext cx="3803904" cy="512064"/>
          </a:xfrm>
          <a:prstGeom prst="rect">
            <a:avLst/>
          </a:prstGeom>
          <a:solidFill>
            <a:srgbClr val="F4F8F2"/>
          </a:solidFill>
          <a:ln w="12700">
            <a:solidFill>
              <a:srgbClr val="C5D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5214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cleaning, pivot tables, supplier KPI sheet, warehouse summary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837944"/>
            <a:ext cx="347472" cy="512064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379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974336" y="1837944"/>
            <a:ext cx="3803904" cy="512064"/>
          </a:xfrm>
          <a:prstGeom prst="rect">
            <a:avLst/>
          </a:prstGeom>
          <a:solidFill>
            <a:srgbClr val="F4F8F2"/>
          </a:solidFill>
          <a:ln w="12700">
            <a:solidFill>
              <a:srgbClr val="C5D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3794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15 queries, CTE cost impact, window functions, 2 Power BI views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523744"/>
            <a:ext cx="347472" cy="512064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237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974336" y="2523744"/>
            <a:ext cx="3803904" cy="512064"/>
          </a:xfrm>
          <a:prstGeom prst="rect">
            <a:avLst/>
          </a:prstGeom>
          <a:solidFill>
            <a:srgbClr val="F4F8F2"/>
          </a:solidFill>
          <a:ln w="12700">
            <a:solidFill>
              <a:srgbClr val="C5D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52374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Full EDA, 8 charts, carrier OTD, defect heatmap, delay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209544"/>
            <a:ext cx="347472" cy="512064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2095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74336" y="3209544"/>
            <a:ext cx="3803904" cy="512064"/>
          </a:xfrm>
          <a:prstGeom prst="rect">
            <a:avLst/>
          </a:prstGeom>
          <a:solidFill>
            <a:srgbClr val="F4F8F2"/>
          </a:solidFill>
          <a:ln w="12700">
            <a:solidFill>
              <a:srgbClr val="C5D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0954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3 dashboards: Overview, Supplier Monitor, Inventory &amp; Cost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895344"/>
            <a:ext cx="347472" cy="512064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8953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74336" y="3895344"/>
            <a:ext cx="3803904" cy="512064"/>
          </a:xfrm>
          <a:prstGeom prst="rect">
            <a:avLst/>
          </a:prstGeom>
          <a:solidFill>
            <a:srgbClr val="F4F8F2"/>
          </a:solidFill>
          <a:ln w="12700">
            <a:solidFill>
              <a:srgbClr val="C5D8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895344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— 9-slide exec deck — OTD crisis, supplier tiers, cost findings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Raw Data  →  Excel Clean  →  SQL Queries  →  Python EDA  →  Power BI Dashboards  →  Insights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DATASET &amp; EXCEL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Purchase Order &amp; Shipment Records (2023)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42062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/ Supplier / Warehouse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order, vendor name, fulfilment location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Shipment_Mode / Carrier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Air, Road, Rail, Sea + logistics carrier name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/ High / Medium / Low (SLA tier)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Promised_Lead_Days / Actual_Lead_Days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vs actual transit time in days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Is_Late / Delay_Days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/ Integer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flag (0/1) and days beyond promised date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Order_Value / Freight_Cost / Holding_Cost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value, shipping cost, inventory carrying cost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Stock_On_Hand / Reorder_Point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inventory level vs restocking threshold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Is_Stockout / Inventory_Turns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/ Decimal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Stockout flag and annual inventory rotation rate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Defect_Rate_Pct / Return_Rate_Pct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defects and return percentage per order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Supplier_Score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vendor performance rating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 Performed: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35254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Standardise date formats on Order_Date and Delivery_Date; fill blank Carrier entries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VLOOKUP: Enrich orders with Avg_Score and On_Time_Rate from Supplier_KPIs sheet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Pivot Table: OTD % by Carrier × Shipment_Mode; Stockout Rate by Warehouse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formatting: Red if Is_Late=1 and Priority=Critical; Amber if Delay_Days&gt;5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Warehouse_KPIs sheet: Avg Inventory Turns, Stockout Rate, Holding Cost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lead days, negative values, status breakdown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 &amp; Lead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by carrier/mode, monthly trend, priority SLA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+ holding by mode; cost efficiency by warehouse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25496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25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 %, defect %, score, tier classification per vendor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by WH × category, reorder gap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54864" cy="5120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165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late-cost impact, RANK(), NTILE(), rolling freight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804672"/>
            <a:ext cx="5669280" cy="4187952"/>
          </a:xfrm>
          <a:prstGeom prst="rect">
            <a:avLst/>
          </a:prstGeom>
          <a:solidFill>
            <a:srgbClr val="0D1A0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896112"/>
            <a:ext cx="544982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Late Delivery Cost Impact (CTE)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Late_Orders AS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Freight_Cost * 0.15   AS Late_Penalty,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Holding_Cost * 1.5    AS Extra_Holding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order_shipments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Is_Late = 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Cost_Impact AS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Supplier, Carrier, Product_Category,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AS Late_Orders,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SUM(Late_Penalty)  AS Est_Penalty,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SUM(Extra_Holding) AS Extra_Hold_Cost,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SUM(Order_Value)   AS At_Risk_Value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Late_Orders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Supplier, Carrier, Product_Category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Est_Penalty + Extra_Hold_Cost AS Total_Impact,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(Est_Penalty + Extra_Hold_Cost) DESC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Impact_Rank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Cost_Impact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Total_Impact DESC LIMIT 20;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Inventory Efficiency Score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Warehouse,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Inv_Turns * 20 - Stockout_Pct * 1.5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Avg_Hold_Cost / 100.0 AS Inventory_Score,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(ORDER BY Inv_Turns DESC) AS Turns_Rank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Inv_Metrics;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Queries  ·  2 Power BI Views  ·  LAG() / RANK() / NTILE()  ·  Late-Cost CTE  ·  Inventory Score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PYTHON EDA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1508760" cy="301752"/>
          </a:xfrm>
          <a:prstGeom prst="rect">
            <a:avLst/>
          </a:prstGeom>
          <a:solidFill>
            <a:srgbClr val="1B3A1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0" y="795528"/>
            <a:ext cx="1508760" cy="301752"/>
          </a:xfrm>
          <a:prstGeom prst="rect">
            <a:avLst/>
          </a:prstGeom>
          <a:solidFill>
            <a:srgbClr val="1B3A1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795528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795528"/>
            <a:ext cx="1508760" cy="301752"/>
          </a:xfrm>
          <a:prstGeom prst="rect">
            <a:avLst/>
          </a:prstGeom>
          <a:solidFill>
            <a:srgbClr val="1B3A1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795528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795528"/>
            <a:ext cx="1508760" cy="301752"/>
          </a:xfrm>
          <a:prstGeom prst="rect">
            <a:avLst/>
          </a:prstGeom>
          <a:solidFill>
            <a:srgbClr val="1B3A1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795528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795528"/>
            <a:ext cx="1508760" cy="301752"/>
          </a:xfrm>
          <a:prstGeom prst="rect">
            <a:avLst/>
          </a:prstGeom>
          <a:solidFill>
            <a:srgbClr val="1B3A1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795528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225296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225296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2,800 orders, 0 nulls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Describe() stats: Lead Days, Value, Freight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 detection: Delay Days, Defect 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225296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25296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Value Trend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order count + value dual-axis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156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procurement spikes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 order value change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225296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25296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OTD % by carrier — traffic-light bar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764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time distribution: actual vs promised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 days by Priority histogram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026664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26664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Freight + Holding cost by shipment mode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breakdown stacked bar per mode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Freight % of order value comparison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026664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26664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Analysis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0156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OTD vs Supplier Score scatter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156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rate by Supplier × Category heatmap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rank quadrant chart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3026664"/>
            <a:ext cx="2743200" cy="1618488"/>
          </a:xfrm>
          <a:prstGeom prst="rect">
            <a:avLst/>
          </a:prstGeom>
          <a:solidFill>
            <a:srgbClr val="F4F8F2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026664"/>
            <a:ext cx="2743200" cy="347472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Metrics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2764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Stockout rate by warehouse bar chart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2764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Turns vs Holding Cost scatter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Reorder gap: Stock vs Reorder Point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KEY ANALYTICAL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20240" cy="82296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$18.9M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Freight Spend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192024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Defect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9202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7556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55648"/>
            <a:ext cx="54864" cy="14813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8470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Only 41.1% On-Time Delivery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157984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of all orders arrive on time — far below the 85% industry benchmark. DHL Supply is the worst-performing carrier at 38.5% OTD. Air shipments have the highest OTD (49%) but 8× the freight cost vs Sea. Carrier SLA renegotiation is urgently needed.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7556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755648"/>
            <a:ext cx="54864" cy="14813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8470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WH-South Has 24.0% Stockout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2157984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WH-South records the highest stockout rate in the network — nearly 1 in 4 orders triggers an out-of-stock event. Machinery and Electronics categories are the primary drivers. Reorder points need to be increased by 30–40% for high-velocity SKUs at this location.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54864" cy="14813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Orders Average 4.2 Day Delays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378561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Priority-Critical orders — which have the tightest SLAs — are averaging 4.2 days of delay when late. This represents a direct contract penalty risk. 72% of critical delays originate from Road and Rail shipments, pointing to last-mile inefficiency.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38328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383280"/>
            <a:ext cx="54864" cy="14813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Air Mode: 8× Freight Cost vs Sea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5192" y="378561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shipments cost an average of 8% of order value in freight vs 2% for Sea. Yet Air mode volume is 24% of total orders — many of which are non-urgent categories like Packaging. Shifting 30% of non-critical Air orders to Road/Rail could save ~$2.1M annually.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POWER BI DASHBOARD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4187952"/>
          </a:xfrm>
          <a:prstGeom prst="rect">
            <a:avLst/>
          </a:prstGeom>
          <a:solidFill>
            <a:srgbClr val="F4F8F2"/>
          </a:solidFill>
          <a:ln w="12700">
            <a:solidFill>
              <a:srgbClr val="1B3A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34640" cy="4572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SC Overview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8988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Cards: OTD%, Freight, Lead Days, Stockout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84048" y="212140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12140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396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 + Freight Trend (Dual Axis)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84048" y="285292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85292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712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Shipment Mode by Order Value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84048" y="358444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58444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0273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Value by Category + Mode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84048" y="431596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31596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342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Orders by Region (bubble = Value)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246120" y="804672"/>
            <a:ext cx="2834640" cy="4187952"/>
          </a:xfrm>
          <a:prstGeom prst="rect">
            <a:avLst/>
          </a:prstGeom>
          <a:solidFill>
            <a:srgbClr val="F4F8F2"/>
          </a:solidFill>
          <a:ln w="12700">
            <a:solidFill>
              <a:srgbClr val="2A4F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804672"/>
            <a:ext cx="2834640" cy="457200"/>
          </a:xfrm>
          <a:prstGeom prst="rect">
            <a:avLst/>
          </a:prstGeom>
          <a:solidFill>
            <a:srgbClr val="2A4F2B"/>
          </a:solidFill>
          <a:ln w="12700">
            <a:solidFill>
              <a:srgbClr val="2A4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Supplier Monitor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138988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138988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408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OTD% vs Score (bubble=Value, color=Tier)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55848" y="212140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12140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1396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Table: OTD%, Defect%, Score, Tier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355848" y="285292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285292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8712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% Bar by Supplier (ref line at 7%)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355848" y="358444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358444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60273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Heatmap: Defect × Supplier × Category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217920" y="804672"/>
            <a:ext cx="2834640" cy="4187952"/>
          </a:xfrm>
          <a:prstGeom prst="rect">
            <a:avLst/>
          </a:prstGeom>
          <a:solidFill>
            <a:srgbClr val="F4F8F2"/>
          </a:solidFill>
          <a:ln w="12700">
            <a:solidFill>
              <a:srgbClr val="1A3A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804672"/>
            <a:ext cx="2834640" cy="4572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3: Inventory &amp; Cost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27648" y="138988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138988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1408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Gauge: Stockout Rate % (target=10%)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327648" y="212140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212140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1396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Bar: Stockout by Warehouse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327648" y="285292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285292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28712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vs Holding Cost by Shipment Mode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327648" y="358444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358444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60273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Inv. Turns vs Holding Cost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327648" y="4315968"/>
            <a:ext cx="261518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4315968"/>
            <a:ext cx="54864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3342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Stockout Rate × WH × Category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Order_Shipments + Supplier_KPIs + Warehouse_KPIs  ·  Relationships: Supplier, Warehouse  ·  DAX: OTD%, Freight%, Late Cost Impact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920240"/>
          </a:xfrm>
          <a:prstGeom prst="rect">
            <a:avLst/>
          </a:prstGeom>
          <a:solidFill>
            <a:srgbClr val="0E2010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005840"/>
            <a:ext cx="749808" cy="23774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0058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9601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Carrier SLAs — Especially DHL Supply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OTD of 41.1% is unacceptable. DHL Supply is worst at 38.5%. Issue formal performance improvement notice with 90-day remediation window. Require weekly OTD reporting. Set contractual penalties for Critical-priority late deliveries exceeding 3 days.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60520" cy="1920240"/>
          </a:xfrm>
          <a:prstGeom prst="rect">
            <a:avLst/>
          </a:prstGeom>
          <a:solidFill>
            <a:srgbClr val="0E2010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960120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0728" y="1005840"/>
            <a:ext cx="749808" cy="23774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0058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32120" y="9601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WH-South Reorder Points for Critical SKUs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44475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WH-South's 24% stockout rate is driven by outdated reorder points for Machinery and Electronics. Increase reorder thresholds by 35% for high-velocity SKUs. Implement automated reorder triggers in the WMS. Target: reduce stockout rate to under 10% in 60 days.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4160520" cy="1920240"/>
          </a:xfrm>
          <a:prstGeom prst="rect">
            <a:avLst/>
          </a:prstGeom>
          <a:solidFill>
            <a:srgbClr val="0E2010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44952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30168" y="3090672"/>
            <a:ext cx="749808" cy="23774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0906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30449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30% Non-Critical Air Volume to Road/Rail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52958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costs 8% of order value vs 2% for Sea. Packaging and Textiles categories are using Air unnecessarily. Rerouting non-critical orders saves an estimated $2.1M annually. Flag Air-mode orders for Packaging/Low Priority in Power BI for weekly review.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07792"/>
            <a:ext cx="4160520" cy="1920240"/>
          </a:xfrm>
          <a:prstGeom prst="rect">
            <a:avLst/>
          </a:prstGeom>
          <a:solidFill>
            <a:srgbClr val="0E2010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044952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0728" y="3090672"/>
            <a:ext cx="749808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0906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32120" y="30449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Supplier Tier-Based Sourcing Policy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352958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Q8 tier classification (Preferred/Approved/Conditional/At-Risk). Reserve Critical-priority orders exclusively for Preferred-tier suppliers. At-Risk suppliers require quality audit before new PO issuance. Review tier quarterly using Supplier Monitor dashboard.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5029200" cy="5029200"/>
          </a:xfrm>
          <a:prstGeom prst="ellipse">
            <a:avLst/>
          </a:prstGeom>
          <a:solidFill>
            <a:srgbClr val="2C5F2D">
              <a:alpha val="18000"/>
            </a:srgbClr>
          </a:solidFill>
          <a:ln w="12700">
            <a:solidFill>
              <a:srgbClr val="2C5F2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97BC62">
              <a:alpha val="16000"/>
            </a:srgbClr>
          </a:solidFill>
          <a:ln w="12700">
            <a:solidFill>
              <a:srgbClr val="97BC62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5836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Logistics Analytics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1508760" cy="160020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871216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sheets · Pivot tables · VLOOKUP · Conditional formatting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2057400"/>
            <a:ext cx="1508760" cy="160020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871216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queries · Late Cost CTE · NTILE · RANK · 2 PBI views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2057400"/>
            <a:ext cx="1508760" cy="160020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871216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8 charts · Carrier OTD · Defect heatmap · Cost drill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46520" y="2057400"/>
            <a:ext cx="1508760" cy="1600200"/>
          </a:xfrm>
          <a:prstGeom prst="rect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871216"/>
            <a:ext cx="1508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 · DAX measures · Drill-through · Supplier tiers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Supply Chain &amp; Logistics Analytics  ·  Intermediate Level  ·  2023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315968"/>
            <a:ext cx="274320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622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&amp; Logistics Analytics 2023</dc:title>
  <dc:subject>PptxGenJS Presentation</dc:subject>
  <dc:creator>Supply Chain Analytics Team</dc:creator>
  <cp:lastModifiedBy>Supply Chain Analytics Team</cp:lastModifiedBy>
  <cp:revision>1</cp:revision>
  <dcterms:created xsi:type="dcterms:W3CDTF">2026-03-13T18:15:37Z</dcterms:created>
  <dcterms:modified xsi:type="dcterms:W3CDTF">2026-03-13T18:15:37Z</dcterms:modified>
</cp:coreProperties>
</file>